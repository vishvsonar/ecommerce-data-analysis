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al Nova" charset="1" panose="020B0504020202020204"/>
      <p:regular r:id="rId25"/>
    </p:embeddedFont>
    <p:embeddedFont>
      <p:font typeface="Trirong Extra-Light" charset="1" panose="00000300000000000000"/>
      <p:regular r:id="rId26"/>
    </p:embeddedFont>
    <p:embeddedFont>
      <p:font typeface="Arial Nova Light" charset="1" panose="020B0304020202020204"/>
      <p:regular r:id="rId27"/>
    </p:embeddedFont>
    <p:embeddedFont>
      <p:font typeface="Arial Nova Bold" charset="1" panose="020B0804020202020204"/>
      <p:regular r:id="rId28"/>
    </p:embeddedFont>
    <p:embeddedFont>
      <p:font typeface="Canva Sans Bold" charset="1" panose="020B08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7483141" y="4350216"/>
            <a:ext cx="9776159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20"/>
              </a:lnSpc>
            </a:pPr>
            <a:r>
              <a:rPr lang="en-US" sz="12000" spc="-660">
                <a:solidFill>
                  <a:srgbClr val="39312D"/>
                </a:solidFill>
                <a:latin typeface="Arial Nova"/>
                <a:ea typeface="Arial Nova"/>
                <a:cs typeface="Arial Nova"/>
                <a:sym typeface="Arial Nova"/>
              </a:rPr>
              <a:t>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83141" y="3164374"/>
            <a:ext cx="9776159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20"/>
              </a:lnSpc>
            </a:pPr>
            <a:r>
              <a:rPr lang="en-US" sz="12000" spc="-432">
                <a:solidFill>
                  <a:srgbClr val="39312D"/>
                </a:solidFill>
                <a:latin typeface="Trirong Extra-Light"/>
                <a:ea typeface="Trirong Extra-Light"/>
                <a:cs typeface="Trirong Extra-Light"/>
                <a:sym typeface="Trirong Extra-Light"/>
              </a:rPr>
              <a:t>ECOMMERCE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028700" y="1042987"/>
            <a:ext cx="4763" cy="9343694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460085" y="1776198"/>
            <a:ext cx="11367830" cy="112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64"/>
              </a:lnSpc>
            </a:pPr>
            <a:r>
              <a:rPr lang="en-US" sz="9600" spc="-345">
                <a:solidFill>
                  <a:srgbClr val="39312D"/>
                </a:solidFill>
                <a:latin typeface="Trirong Extra-Light"/>
                <a:ea typeface="Trirong Extra-Light"/>
                <a:cs typeface="Trirong Extra-Light"/>
                <a:sym typeface="Trirong Extra-Light"/>
              </a:rPr>
              <a:t>BASIC PROBLEMS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700" y="1042987"/>
            <a:ext cx="4763" cy="9343694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-5400000">
            <a:off x="-686246" y="7937477"/>
            <a:ext cx="231843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PAGE FOUR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62882" y="3992197"/>
            <a:ext cx="6000681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  <a:spcBef>
                <a:spcPct val="0"/>
              </a:spcBef>
            </a:pPr>
            <a:r>
              <a:rPr lang="en-US" b="true" sz="3999" spc="-219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Objective: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31753" y="6123796"/>
            <a:ext cx="6000681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599" spc="-142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Generate strategic and customer-centric insight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7230725" y="1050881"/>
            <a:ext cx="4763" cy="9343694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-1472831" y="3296197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143659" y="6939868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1682" y="2300395"/>
            <a:ext cx="16764363" cy="2078500"/>
          </a:xfrm>
          <a:custGeom>
            <a:avLst/>
            <a:gdLst/>
            <a:ahLst/>
            <a:cxnLst/>
            <a:rect r="r" b="b" t="t" l="l"/>
            <a:pathLst>
              <a:path h="2078500" w="16764363">
                <a:moveTo>
                  <a:pt x="0" y="0"/>
                </a:moveTo>
                <a:lnTo>
                  <a:pt x="16764363" y="0"/>
                </a:lnTo>
                <a:lnTo>
                  <a:pt x="16764363" y="2078500"/>
                </a:lnTo>
                <a:lnTo>
                  <a:pt x="0" y="2078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130" r="0" b="-2996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55335" y="5378268"/>
            <a:ext cx="9778121" cy="4167276"/>
          </a:xfrm>
          <a:custGeom>
            <a:avLst/>
            <a:gdLst/>
            <a:ahLst/>
            <a:cxnLst/>
            <a:rect r="r" b="b" t="t" l="l"/>
            <a:pathLst>
              <a:path h="4167276" w="9778121">
                <a:moveTo>
                  <a:pt x="0" y="0"/>
                </a:moveTo>
                <a:lnTo>
                  <a:pt x="9778121" y="0"/>
                </a:lnTo>
                <a:lnTo>
                  <a:pt x="9778121" y="4167276"/>
                </a:lnTo>
                <a:lnTo>
                  <a:pt x="0" y="416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337" t="-7031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1682" y="324616"/>
            <a:ext cx="12398455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186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1.LIST OF ALL UNIQUE CITIES WHERE CUSTOMERS ARE LOCATED.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36730" y="1192425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99349" y="9286348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  <p:sp>
        <p:nvSpPr>
          <p:cNvPr name="AutoShape 8" id="8"/>
          <p:cNvSpPr/>
          <p:nvPr/>
        </p:nvSpPr>
        <p:spPr>
          <a:xfrm>
            <a:off x="4280686" y="2065232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099349" y="10153440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20553" y="4755132"/>
            <a:ext cx="16061496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4280686" y="2065232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099349" y="10153440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4770595"/>
            <a:ext cx="16061496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43137" y="2203345"/>
            <a:ext cx="11301259" cy="2260252"/>
          </a:xfrm>
          <a:custGeom>
            <a:avLst/>
            <a:gdLst/>
            <a:ahLst/>
            <a:cxnLst/>
            <a:rect r="r" b="b" t="t" l="l"/>
            <a:pathLst>
              <a:path h="2260252" w="11301259">
                <a:moveTo>
                  <a:pt x="0" y="0"/>
                </a:moveTo>
                <a:lnTo>
                  <a:pt x="11301259" y="0"/>
                </a:lnTo>
                <a:lnTo>
                  <a:pt x="11301259" y="2260252"/>
                </a:lnTo>
                <a:lnTo>
                  <a:pt x="0" y="2260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09662" y="5077594"/>
            <a:ext cx="9528327" cy="4294478"/>
          </a:xfrm>
          <a:custGeom>
            <a:avLst/>
            <a:gdLst/>
            <a:ahLst/>
            <a:cxnLst/>
            <a:rect r="r" b="b" t="t" l="l"/>
            <a:pathLst>
              <a:path h="4294478" w="9528327">
                <a:moveTo>
                  <a:pt x="0" y="0"/>
                </a:moveTo>
                <a:lnTo>
                  <a:pt x="9528327" y="0"/>
                </a:lnTo>
                <a:lnTo>
                  <a:pt x="9528327" y="4294479"/>
                </a:lnTo>
                <a:lnTo>
                  <a:pt x="0" y="4294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606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2633" y="319722"/>
            <a:ext cx="9031367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186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2. COUNT NUMBER OF ORDERS PLACED IN 2017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36730" y="1192425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99349" y="9286348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1971992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099349" y="10153440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865311" y="5588848"/>
            <a:ext cx="8393989" cy="3783225"/>
          </a:xfrm>
          <a:custGeom>
            <a:avLst/>
            <a:gdLst/>
            <a:ahLst/>
            <a:cxnLst/>
            <a:rect r="r" b="b" t="t" l="l"/>
            <a:pathLst>
              <a:path h="3783225" w="8393989">
                <a:moveTo>
                  <a:pt x="0" y="0"/>
                </a:moveTo>
                <a:lnTo>
                  <a:pt x="8393989" y="0"/>
                </a:lnTo>
                <a:lnTo>
                  <a:pt x="8393989" y="3783225"/>
                </a:lnTo>
                <a:lnTo>
                  <a:pt x="0" y="3783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606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2110104"/>
            <a:ext cx="8689866" cy="3845266"/>
          </a:xfrm>
          <a:custGeom>
            <a:avLst/>
            <a:gdLst/>
            <a:ahLst/>
            <a:cxnLst/>
            <a:rect r="r" b="b" t="t" l="l"/>
            <a:pathLst>
              <a:path h="3845266" w="8689866">
                <a:moveTo>
                  <a:pt x="0" y="0"/>
                </a:moveTo>
                <a:lnTo>
                  <a:pt x="8689866" y="0"/>
                </a:lnTo>
                <a:lnTo>
                  <a:pt x="8689866" y="3845266"/>
                </a:lnTo>
                <a:lnTo>
                  <a:pt x="0" y="3845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834" y="319722"/>
            <a:ext cx="7194495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186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3.TOTAL SALES PER CATEGORY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4424" y="1095375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9349" y="9286348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4280686" y="2065232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099349" y="10153440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85047" y="5129322"/>
            <a:ext cx="16061496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926593" y="2317645"/>
            <a:ext cx="11528029" cy="2416389"/>
          </a:xfrm>
          <a:custGeom>
            <a:avLst/>
            <a:gdLst/>
            <a:ahLst/>
            <a:cxnLst/>
            <a:rect r="r" b="b" t="t" l="l"/>
            <a:pathLst>
              <a:path h="2416389" w="11528029">
                <a:moveTo>
                  <a:pt x="0" y="0"/>
                </a:moveTo>
                <a:lnTo>
                  <a:pt x="11528030" y="0"/>
                </a:lnTo>
                <a:lnTo>
                  <a:pt x="11528030" y="2416389"/>
                </a:lnTo>
                <a:lnTo>
                  <a:pt x="0" y="241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30" t="-993" r="-463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76353" y="5267434"/>
            <a:ext cx="9715121" cy="4104638"/>
          </a:xfrm>
          <a:custGeom>
            <a:avLst/>
            <a:gdLst/>
            <a:ahLst/>
            <a:cxnLst/>
            <a:rect r="r" b="b" t="t" l="l"/>
            <a:pathLst>
              <a:path h="4104638" w="9715121">
                <a:moveTo>
                  <a:pt x="0" y="0"/>
                </a:moveTo>
                <a:lnTo>
                  <a:pt x="9715120" y="0"/>
                </a:lnTo>
                <a:lnTo>
                  <a:pt x="9715120" y="4104639"/>
                </a:lnTo>
                <a:lnTo>
                  <a:pt x="0" y="4104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448309"/>
            <a:ext cx="16100030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186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4. CALCULATE THE PERCENTAGE OF ORDERS THAT WERE PAID IN INSTALLMENTS.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36730" y="1192425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99349" y="9286348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358468" y="10172358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2181842"/>
            <a:ext cx="7588155" cy="4455612"/>
          </a:xfrm>
          <a:custGeom>
            <a:avLst/>
            <a:gdLst/>
            <a:ahLst/>
            <a:cxnLst/>
            <a:rect r="r" b="b" t="t" l="l"/>
            <a:pathLst>
              <a:path h="4455612" w="7588155">
                <a:moveTo>
                  <a:pt x="0" y="0"/>
                </a:moveTo>
                <a:lnTo>
                  <a:pt x="7588155" y="0"/>
                </a:lnTo>
                <a:lnTo>
                  <a:pt x="7588155" y="4455613"/>
                </a:lnTo>
                <a:lnTo>
                  <a:pt x="0" y="4455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9832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58238" y="2005630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790562" y="5323983"/>
            <a:ext cx="7901663" cy="4171783"/>
          </a:xfrm>
          <a:custGeom>
            <a:avLst/>
            <a:gdLst/>
            <a:ahLst/>
            <a:cxnLst/>
            <a:rect r="r" b="b" t="t" l="l"/>
            <a:pathLst>
              <a:path h="4171783" w="7901663">
                <a:moveTo>
                  <a:pt x="0" y="0"/>
                </a:moveTo>
                <a:lnTo>
                  <a:pt x="7901663" y="0"/>
                </a:lnTo>
                <a:lnTo>
                  <a:pt x="7901663" y="4171783"/>
                </a:lnTo>
                <a:lnTo>
                  <a:pt x="0" y="4171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2" t="0" r="-2167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448309"/>
            <a:ext cx="11358468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186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5.COUNT THE NUMBER OF CUSTOMERS FROM EACH STATE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93017" y="1090913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58468" y="9419566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460085" y="1690473"/>
            <a:ext cx="11367830" cy="85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2"/>
              </a:lnSpc>
            </a:pPr>
            <a:r>
              <a:rPr lang="en-US" sz="7300" spc="-262">
                <a:solidFill>
                  <a:srgbClr val="39312D"/>
                </a:solidFill>
                <a:latin typeface="Trirong Extra-Light"/>
                <a:ea typeface="Trirong Extra-Light"/>
                <a:cs typeface="Trirong Extra-Light"/>
                <a:sym typeface="Trirong Extra-Light"/>
              </a:rPr>
              <a:t>INTERMEDIATE  PROBLEMS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700" y="1042987"/>
            <a:ext cx="4763" cy="9343694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862882" y="3992197"/>
            <a:ext cx="6000681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  <a:spcBef>
                <a:spcPct val="0"/>
              </a:spcBef>
            </a:pPr>
            <a:r>
              <a:rPr lang="en-US" b="true" sz="3999" spc="-219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Objective: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31753" y="6123796"/>
            <a:ext cx="6000681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599" spc="-142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Extract fundamental insights from the dataset.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7230725" y="1050881"/>
            <a:ext cx="4763" cy="9343694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1472831" y="3296197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143659" y="6939868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099349" y="10153440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58238" y="2005630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7209" y="2143742"/>
            <a:ext cx="7959976" cy="3602618"/>
          </a:xfrm>
          <a:custGeom>
            <a:avLst/>
            <a:gdLst/>
            <a:ahLst/>
            <a:cxnLst/>
            <a:rect r="r" b="b" t="t" l="l"/>
            <a:pathLst>
              <a:path h="3602618" w="7959976">
                <a:moveTo>
                  <a:pt x="0" y="0"/>
                </a:moveTo>
                <a:lnTo>
                  <a:pt x="7959976" y="0"/>
                </a:lnTo>
                <a:lnTo>
                  <a:pt x="7959976" y="3602618"/>
                </a:lnTo>
                <a:lnTo>
                  <a:pt x="0" y="360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615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23820" y="5046355"/>
            <a:ext cx="9497252" cy="4201893"/>
          </a:xfrm>
          <a:custGeom>
            <a:avLst/>
            <a:gdLst/>
            <a:ahLst/>
            <a:cxnLst/>
            <a:rect r="r" b="b" t="t" l="l"/>
            <a:pathLst>
              <a:path h="4201893" w="9497252">
                <a:moveTo>
                  <a:pt x="0" y="0"/>
                </a:moveTo>
                <a:lnTo>
                  <a:pt x="9497252" y="0"/>
                </a:lnTo>
                <a:lnTo>
                  <a:pt x="9497252" y="4201893"/>
                </a:lnTo>
                <a:lnTo>
                  <a:pt x="0" y="4201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429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448309"/>
            <a:ext cx="11358468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186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1.NUMBER OF ORDERS PER MONTH IN 2018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93017" y="1090913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9349" y="9286348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497948" y="10039140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58238" y="2005630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58238" y="2143742"/>
            <a:ext cx="9239710" cy="2999758"/>
          </a:xfrm>
          <a:custGeom>
            <a:avLst/>
            <a:gdLst/>
            <a:ahLst/>
            <a:cxnLst/>
            <a:rect r="r" b="b" t="t" l="l"/>
            <a:pathLst>
              <a:path h="2999758" w="9239710">
                <a:moveTo>
                  <a:pt x="0" y="0"/>
                </a:moveTo>
                <a:lnTo>
                  <a:pt x="9239710" y="0"/>
                </a:lnTo>
                <a:lnTo>
                  <a:pt x="9239710" y="2999758"/>
                </a:lnTo>
                <a:lnTo>
                  <a:pt x="0" y="2999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73" t="-94721" r="-2977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88594" y="5558581"/>
            <a:ext cx="8167705" cy="3813492"/>
          </a:xfrm>
          <a:custGeom>
            <a:avLst/>
            <a:gdLst/>
            <a:ahLst/>
            <a:cxnLst/>
            <a:rect r="r" b="b" t="t" l="l"/>
            <a:pathLst>
              <a:path h="3813492" w="8167705">
                <a:moveTo>
                  <a:pt x="0" y="0"/>
                </a:moveTo>
                <a:lnTo>
                  <a:pt x="8167705" y="0"/>
                </a:lnTo>
                <a:lnTo>
                  <a:pt x="8167705" y="3813492"/>
                </a:lnTo>
                <a:lnTo>
                  <a:pt x="0" y="3813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948" r="-3836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448309"/>
            <a:ext cx="13935404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186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2.AVERAGE NUMBER OF PRODUCTS PER ORDER BY CUSTOMER CITY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93017" y="1090913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9349" y="9286348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099349" y="10153440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58238" y="2005630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0" y="2181842"/>
            <a:ext cx="11301259" cy="2676986"/>
          </a:xfrm>
          <a:custGeom>
            <a:avLst/>
            <a:gdLst/>
            <a:ahLst/>
            <a:cxnLst/>
            <a:rect r="r" b="b" t="t" l="l"/>
            <a:pathLst>
              <a:path h="2676986" w="11301259">
                <a:moveTo>
                  <a:pt x="0" y="0"/>
                </a:moveTo>
                <a:lnTo>
                  <a:pt x="11301259" y="0"/>
                </a:lnTo>
                <a:lnTo>
                  <a:pt x="11301259" y="2676986"/>
                </a:lnTo>
                <a:lnTo>
                  <a:pt x="0" y="2676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000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80437" y="5823393"/>
            <a:ext cx="9384019" cy="3360720"/>
          </a:xfrm>
          <a:custGeom>
            <a:avLst/>
            <a:gdLst/>
            <a:ahLst/>
            <a:cxnLst/>
            <a:rect r="r" b="b" t="t" l="l"/>
            <a:pathLst>
              <a:path h="3360720" w="9384019">
                <a:moveTo>
                  <a:pt x="0" y="0"/>
                </a:moveTo>
                <a:lnTo>
                  <a:pt x="9384019" y="0"/>
                </a:lnTo>
                <a:lnTo>
                  <a:pt x="9384019" y="3360720"/>
                </a:lnTo>
                <a:lnTo>
                  <a:pt x="0" y="3360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7960" r="-2043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448309"/>
            <a:ext cx="13935404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186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3.PERCENTAGE OF TOTAL REVENUE BY PRODUCT CATEGORY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93017" y="1090913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9349" y="9286348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099349" y="10153440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598245" y="2005630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56618" y="2181842"/>
            <a:ext cx="8927793" cy="3165682"/>
          </a:xfrm>
          <a:custGeom>
            <a:avLst/>
            <a:gdLst/>
            <a:ahLst/>
            <a:cxnLst/>
            <a:rect r="r" b="b" t="t" l="l"/>
            <a:pathLst>
              <a:path h="3165682" w="8927793">
                <a:moveTo>
                  <a:pt x="0" y="0"/>
                </a:moveTo>
                <a:lnTo>
                  <a:pt x="8927793" y="0"/>
                </a:lnTo>
                <a:lnTo>
                  <a:pt x="8927793" y="3165682"/>
                </a:lnTo>
                <a:lnTo>
                  <a:pt x="0" y="316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7" t="0" r="-2388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73131" y="5460041"/>
            <a:ext cx="8786169" cy="3941190"/>
          </a:xfrm>
          <a:custGeom>
            <a:avLst/>
            <a:gdLst/>
            <a:ahLst/>
            <a:cxnLst/>
            <a:rect r="r" b="b" t="t" l="l"/>
            <a:pathLst>
              <a:path h="3941190" w="8786169">
                <a:moveTo>
                  <a:pt x="0" y="0"/>
                </a:moveTo>
                <a:lnTo>
                  <a:pt x="8786169" y="0"/>
                </a:lnTo>
                <a:lnTo>
                  <a:pt x="8786169" y="3941190"/>
                </a:lnTo>
                <a:lnTo>
                  <a:pt x="0" y="39411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584" r="-2862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448309"/>
            <a:ext cx="13935404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186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4.CORRELATION BETWEEN PRICE AND PURCHASE COUNT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83487" y="1112194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53836" y="9363131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216136" y="10148941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827443" y="1914129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94772" y="2303950"/>
            <a:ext cx="8992324" cy="3658783"/>
          </a:xfrm>
          <a:custGeom>
            <a:avLst/>
            <a:gdLst/>
            <a:ahLst/>
            <a:cxnLst/>
            <a:rect r="r" b="b" t="t" l="l"/>
            <a:pathLst>
              <a:path h="3658783" w="8992324">
                <a:moveTo>
                  <a:pt x="0" y="0"/>
                </a:moveTo>
                <a:lnTo>
                  <a:pt x="8992324" y="0"/>
                </a:lnTo>
                <a:lnTo>
                  <a:pt x="8992324" y="3658782"/>
                </a:lnTo>
                <a:lnTo>
                  <a:pt x="0" y="3658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02" t="0" r="-2017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32683" y="4569639"/>
            <a:ext cx="7924539" cy="4688661"/>
          </a:xfrm>
          <a:custGeom>
            <a:avLst/>
            <a:gdLst/>
            <a:ahLst/>
            <a:cxnLst/>
            <a:rect r="r" b="b" t="t" l="l"/>
            <a:pathLst>
              <a:path h="4688661" w="7924539">
                <a:moveTo>
                  <a:pt x="0" y="0"/>
                </a:moveTo>
                <a:lnTo>
                  <a:pt x="7924538" y="0"/>
                </a:lnTo>
                <a:lnTo>
                  <a:pt x="7924538" y="4688661"/>
                </a:lnTo>
                <a:lnTo>
                  <a:pt x="0" y="4688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343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425693"/>
            <a:ext cx="11343379" cy="109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b="true" sz="3179" spc="-174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5.TOTAL REVENUE PER SELLER &amp; RANKING</a:t>
            </a:r>
          </a:p>
          <a:p>
            <a:pPr algn="ctr">
              <a:lnSpc>
                <a:spcPts val="445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783487" y="1112194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43379" y="9291374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460085" y="1690473"/>
            <a:ext cx="11367830" cy="85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2"/>
              </a:lnSpc>
            </a:pPr>
            <a:r>
              <a:rPr lang="en-US" sz="7300" spc="-262">
                <a:solidFill>
                  <a:srgbClr val="39312D"/>
                </a:solidFill>
                <a:latin typeface="Trirong Extra-Light"/>
                <a:ea typeface="Trirong Extra-Light"/>
                <a:cs typeface="Trirong Extra-Light"/>
                <a:sym typeface="Trirong Extra-Light"/>
              </a:rPr>
              <a:t>ADVANCE  PROBLEMS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700" y="1042987"/>
            <a:ext cx="4763" cy="9343694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862882" y="3992197"/>
            <a:ext cx="6000681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  <a:spcBef>
                <a:spcPct val="0"/>
              </a:spcBef>
            </a:pPr>
            <a:r>
              <a:rPr lang="en-US" b="true" sz="3999" spc="-219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Objective: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82216" y="6309335"/>
            <a:ext cx="6000681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599" spc="-142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Dive deeper into sales and order trends. 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7230725" y="1050881"/>
            <a:ext cx="4763" cy="9343694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1472831" y="3296197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143659" y="6939868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216136" y="10148941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827443" y="1914129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33973" y="1914129"/>
            <a:ext cx="8310027" cy="5283339"/>
          </a:xfrm>
          <a:custGeom>
            <a:avLst/>
            <a:gdLst/>
            <a:ahLst/>
            <a:cxnLst/>
            <a:rect r="r" b="b" t="t" l="l"/>
            <a:pathLst>
              <a:path h="5283339" w="8310027">
                <a:moveTo>
                  <a:pt x="0" y="0"/>
                </a:moveTo>
                <a:lnTo>
                  <a:pt x="8310027" y="0"/>
                </a:lnTo>
                <a:lnTo>
                  <a:pt x="8310027" y="5283339"/>
                </a:lnTo>
                <a:lnTo>
                  <a:pt x="0" y="5283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599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55094" y="4135624"/>
            <a:ext cx="7722765" cy="4901921"/>
          </a:xfrm>
          <a:custGeom>
            <a:avLst/>
            <a:gdLst/>
            <a:ahLst/>
            <a:cxnLst/>
            <a:rect r="r" b="b" t="t" l="l"/>
            <a:pathLst>
              <a:path h="4901921" w="7722765">
                <a:moveTo>
                  <a:pt x="0" y="0"/>
                </a:moveTo>
                <a:lnTo>
                  <a:pt x="7722765" y="0"/>
                </a:lnTo>
                <a:lnTo>
                  <a:pt x="7722765" y="4901921"/>
                </a:lnTo>
                <a:lnTo>
                  <a:pt x="0" y="4901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633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425693"/>
            <a:ext cx="11343379" cy="53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  <a:spcBef>
                <a:spcPct val="0"/>
              </a:spcBef>
            </a:pPr>
            <a:r>
              <a:rPr lang="en-US" b="true" sz="3179" spc="-174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1. MOVING AVERAGE OF ORDER VALUE PER CUSTOMER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83487" y="1112194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43379" y="9291374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216136" y="10148941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827443" y="1914129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27320" y="2157017"/>
            <a:ext cx="6600928" cy="5396351"/>
          </a:xfrm>
          <a:custGeom>
            <a:avLst/>
            <a:gdLst/>
            <a:ahLst/>
            <a:cxnLst/>
            <a:rect r="r" b="b" t="t" l="l"/>
            <a:pathLst>
              <a:path h="5396351" w="6600928">
                <a:moveTo>
                  <a:pt x="0" y="0"/>
                </a:moveTo>
                <a:lnTo>
                  <a:pt x="6600928" y="0"/>
                </a:lnTo>
                <a:lnTo>
                  <a:pt x="6600928" y="5396351"/>
                </a:lnTo>
                <a:lnTo>
                  <a:pt x="0" y="5396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120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96481" y="4356379"/>
            <a:ext cx="7425547" cy="4901921"/>
          </a:xfrm>
          <a:custGeom>
            <a:avLst/>
            <a:gdLst/>
            <a:ahLst/>
            <a:cxnLst/>
            <a:rect r="r" b="b" t="t" l="l"/>
            <a:pathLst>
              <a:path h="4901921" w="7425547">
                <a:moveTo>
                  <a:pt x="0" y="0"/>
                </a:moveTo>
                <a:lnTo>
                  <a:pt x="7425548" y="0"/>
                </a:lnTo>
                <a:lnTo>
                  <a:pt x="7425548" y="4901921"/>
                </a:lnTo>
                <a:lnTo>
                  <a:pt x="0" y="4901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219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425693"/>
            <a:ext cx="12662770" cy="53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  <a:spcBef>
                <a:spcPct val="0"/>
              </a:spcBef>
            </a:pPr>
            <a:r>
              <a:rPr lang="en-US" b="true" sz="3179" spc="-174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2.CALCULATE THE CUMULATIVE SALES PER MONTH FOR EACH YEAR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83487" y="1112194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43379" y="9291374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216136" y="10148941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827443" y="1914129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157017"/>
            <a:ext cx="7850009" cy="5283339"/>
          </a:xfrm>
          <a:custGeom>
            <a:avLst/>
            <a:gdLst/>
            <a:ahLst/>
            <a:cxnLst/>
            <a:rect r="r" b="b" t="t" l="l"/>
            <a:pathLst>
              <a:path h="5283339" w="7850009">
                <a:moveTo>
                  <a:pt x="0" y="0"/>
                </a:moveTo>
                <a:lnTo>
                  <a:pt x="7850009" y="0"/>
                </a:lnTo>
                <a:lnTo>
                  <a:pt x="7850009" y="5283338"/>
                </a:lnTo>
                <a:lnTo>
                  <a:pt x="0" y="5283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396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87249" y="4066714"/>
            <a:ext cx="7850009" cy="4916048"/>
          </a:xfrm>
          <a:custGeom>
            <a:avLst/>
            <a:gdLst/>
            <a:ahLst/>
            <a:cxnLst/>
            <a:rect r="r" b="b" t="t" l="l"/>
            <a:pathLst>
              <a:path h="4916048" w="7850009">
                <a:moveTo>
                  <a:pt x="0" y="0"/>
                </a:moveTo>
                <a:lnTo>
                  <a:pt x="7850009" y="0"/>
                </a:lnTo>
                <a:lnTo>
                  <a:pt x="7850009" y="4916048"/>
                </a:lnTo>
                <a:lnTo>
                  <a:pt x="0" y="491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396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425693"/>
            <a:ext cx="12662770" cy="53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  <a:spcBef>
                <a:spcPct val="0"/>
              </a:spcBef>
            </a:pPr>
            <a:r>
              <a:rPr lang="en-US" b="true" sz="3179" spc="-174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3.YEAR-OVER-YEAR GROWTH RATE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83487" y="1112194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43379" y="9291374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216136" y="10148941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827443" y="1914129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92742" y="2157017"/>
            <a:ext cx="8351258" cy="5085567"/>
          </a:xfrm>
          <a:custGeom>
            <a:avLst/>
            <a:gdLst/>
            <a:ahLst/>
            <a:cxnLst/>
            <a:rect r="r" b="b" t="t" l="l"/>
            <a:pathLst>
              <a:path h="5085567" w="8351258">
                <a:moveTo>
                  <a:pt x="0" y="0"/>
                </a:moveTo>
                <a:lnTo>
                  <a:pt x="8351258" y="0"/>
                </a:lnTo>
                <a:lnTo>
                  <a:pt x="8351258" y="5085566"/>
                </a:lnTo>
                <a:lnTo>
                  <a:pt x="0" y="5085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532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28480" y="4342252"/>
            <a:ext cx="8002781" cy="4916048"/>
          </a:xfrm>
          <a:custGeom>
            <a:avLst/>
            <a:gdLst/>
            <a:ahLst/>
            <a:cxnLst/>
            <a:rect r="r" b="b" t="t" l="l"/>
            <a:pathLst>
              <a:path h="4916048" w="8002781">
                <a:moveTo>
                  <a:pt x="0" y="0"/>
                </a:moveTo>
                <a:lnTo>
                  <a:pt x="8002781" y="0"/>
                </a:lnTo>
                <a:lnTo>
                  <a:pt x="8002781" y="4916048"/>
                </a:lnTo>
                <a:lnTo>
                  <a:pt x="0" y="491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121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425693"/>
            <a:ext cx="12662770" cy="53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  <a:spcBef>
                <a:spcPct val="0"/>
              </a:spcBef>
            </a:pPr>
            <a:r>
              <a:rPr lang="en-US" b="true" sz="3179" spc="-174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4.CUSTOMER RETENTION RATE (6 MONTHS)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83487" y="1112194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43379" y="9291374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216136" y="10148941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827443" y="1914129"/>
            <a:ext cx="6000681" cy="0"/>
          </a:xfrm>
          <a:prstGeom prst="line">
            <a:avLst/>
          </a:prstGeom>
          <a:ln cap="flat" w="9525">
            <a:solidFill>
              <a:srgbClr val="3931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157017"/>
            <a:ext cx="7850009" cy="5043187"/>
          </a:xfrm>
          <a:custGeom>
            <a:avLst/>
            <a:gdLst/>
            <a:ahLst/>
            <a:cxnLst/>
            <a:rect r="r" b="b" t="t" l="l"/>
            <a:pathLst>
              <a:path h="5043187" w="7850009">
                <a:moveTo>
                  <a:pt x="0" y="0"/>
                </a:moveTo>
                <a:lnTo>
                  <a:pt x="7850009" y="0"/>
                </a:lnTo>
                <a:lnTo>
                  <a:pt x="7850009" y="5043187"/>
                </a:lnTo>
                <a:lnTo>
                  <a:pt x="0" y="5043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396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27554" y="4073777"/>
            <a:ext cx="8806785" cy="4901921"/>
          </a:xfrm>
          <a:custGeom>
            <a:avLst/>
            <a:gdLst/>
            <a:ahLst/>
            <a:cxnLst/>
            <a:rect r="r" b="b" t="t" l="l"/>
            <a:pathLst>
              <a:path h="4901921" w="8806785">
                <a:moveTo>
                  <a:pt x="0" y="0"/>
                </a:moveTo>
                <a:lnTo>
                  <a:pt x="8806785" y="0"/>
                </a:lnTo>
                <a:lnTo>
                  <a:pt x="8806785" y="4901921"/>
                </a:lnTo>
                <a:lnTo>
                  <a:pt x="0" y="4901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832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425693"/>
            <a:ext cx="12662770" cy="53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  <a:spcBef>
                <a:spcPct val="0"/>
              </a:spcBef>
            </a:pPr>
            <a:r>
              <a:rPr lang="en-US" b="true" sz="3179" spc="-174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5. TOP 3 CUSTOMERS PER YEAR BY SPEND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83487" y="1112194"/>
            <a:ext cx="208859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43379" y="9291374"/>
            <a:ext cx="5746195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393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DAHA79CHnug</dc:identifier>
  <dcterms:modified xsi:type="dcterms:W3CDTF">2011-08-01T06:04:30Z</dcterms:modified>
  <cp:revision>1</cp:revision>
  <dc:title>Ecommerce</dc:title>
</cp:coreProperties>
</file>